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roadmap. Q4 is the 10-minute part and Q5 the 5-minute part, so they have more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Plain English: we almost never train on 'all the data in the world'. Whatever subset we pick is a sample, and the way we pick it decides what the model learns — including its biases.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quick and cheap, which is why they are common in early prototypes, but none of them give a representative sample. Mention a real example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row. Emphasise stratified and reservoir sampling, since they come up again in Q2 (stratified split) and Q3 (streams).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own simulation: population of 10,000 items with 100 rare items (1%). We draw a 200-item sample 2,000 times. Simple random sampling gives anywhere from 0 to 8 rare items, and about 1 in 7 samples has none at all, so a model trained on it would not know the rare class exists. Stratified sampling gives exactly 2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Abalone = 4,177 sea snails, 8 physical measurements, target = number of shell rings (age = rings + 1.5). As a 28-class problem, some ring values have only 1 or 2 examples. We set a practical binary task: is the abalone old (15+ rings)? Only about 9% are, so a model can be 91% accurate by always saying 'not old'.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matters. Split first, then put preprocessing and resampling inside a pipeline so they only ever see training data. Resampling before the split would leak copies of test rows into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 weighting changes the training penalty; the other three change the training data itself. SMOTE creates new points on the line between a rare example and one of its 5 nearest rare neighbours.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recall column first — that is how many old abalone we actually catch. Accuracy goes down a little after the fix because we now say 'old' more often, which is the expected precision/recall trade-off. F1 and balanced accuracy show whether the trade is worth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Top-left vs top-right: how many of the old abalone in the test set move from 'missed' (bottom-left cell) to 'found' (bottom-right). PR curves: the dashed line is a model with no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from the test set (835 abalone, 73 old). Point at the 'found' column: logistic regression goes from finding 13 old abalone to 58. Then be honest about the cost: 107 false alarms. Finish with the PR-AUC point — the fixes move the decision point, they don't make the model smarter.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Batch = process stored, historical data in big scheduled jobs. Stream = process each event within seconds as it arrives. Many real systems use both (lambda / kappa architectures).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ML trains once on a fixed dataset. Streaming ML updates the model one example (or one mini-batch) at a time, never storing the whole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Streams change over time — customer behaviour shifts, fraudsters change tactics. That change is concept drift. These methods detect it and adapt.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Topic 6 lecture: the biggest performance boost often comes from the right features, and too many features cause overfitting, more memory and slower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definition: a feature's importance is how much the model's performance drops if that feature is removed. Permutation importance is the practical version of that: shuffle the column instead of removing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message: importance is the measurement, selection is the decision. Importance scores rank the features; selection uses that ranking to keep or drop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classic families from Guyon &amp; Elisseeff (2003). Filter = fast and model-free; wrapper = most accurate but slow; embedded = selection happens during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Extraction creates NEW features. Unlike selection, the original columns are transformed, so the new features can be harder to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Wrap-up for Q4. Selection keeps meaning; extraction may give better compression. In practice teams often do both: engineer/extract features, then select the most useful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Kaggle's definition: training data contains information about the target that will not be available when the model is used. The model looks great in testing and fails in real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drop from 98% to 83% looks bad but the 83% is the honest number. Exercise answers: shoelaces - leather used is leakage if only known during the month; housing - feature 2 (neighbourhood average price) is the leak because it can be updated with the house's own sale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back to Q2: we split before resampling and used a pipeline so no test information leaked. Personal takeaway: be suspicious of results that look too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 by the tutorial sheet: declare every AI tool, the prompts, and screenshots of the answers. Replace the placeholders with your own screenshots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AED6F1"/>
                </a:solidFill>
                <a:latin typeface="Calibri"/>
              </a:rPr>
              <a:t>ICT304 AI System Design · TSA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Tutorial 3: Data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D6EAF8"/>
                </a:solidFill>
                <a:latin typeface="Calibri"/>
              </a:rPr>
              <a:t>Sampling · Imbalanced data (Abalone) · Batch vs stream processing · Feature importance &amp; extraction · Data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Group 4 — Abey Joseph · Ruben · Siam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F5B7B1"/>
                </a:solidFill>
                <a:latin typeface="Calibri"/>
              </a:rPr>
              <a:t>DRAFT for review — references and AI-use declaration at the 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79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369"/>
                <a:gridCol w="3689131"/>
                <a:gridCol w="6455979"/>
              </a:tblGrid>
              <a:tr h="54863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we deliver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alibri"/>
                        </a:rPr>
                        <a:t>Types of sampling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alibri"/>
                        </a:rPr>
                        <a:t>Explanation, examples, advantages &amp; disadvantages, simulation chart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alibri"/>
                        </a:rPr>
                        <a:t>Imbalanced data — Abalone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alibri"/>
                        </a:rPr>
                        <a:t>Steps + Python notebook, before/after comparison of models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alibri"/>
                        </a:rPr>
                        <a:t>Batch vs stream processing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alibri"/>
                        </a:rPr>
                        <a:t>Differences with examples, two ML techniques for streams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alibri"/>
                        </a:rPr>
                        <a:t>Feature importance, selection &amp; extraction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alibri"/>
                        </a:rPr>
                        <a:t>~10-minute research presentation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B2A4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alibri"/>
                        </a:rPr>
                        <a:t>Data leakage (Kaggle tutorial)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A41"/>
                          </a:solidFill>
                          <a:latin typeface="Calibri"/>
                        </a:rPr>
                        <a:t>~5-minute presentation: problem + what we learned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AED6F1"/>
                </a:solidFill>
                <a:latin typeface="Calibri"/>
              </a:rP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Types of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D6EAF8"/>
                </a:solidFill>
                <a:latin typeface="Calibri"/>
              </a:rPr>
              <a:t>What sampling is, the two families of methods, and the pros &amp; cons of each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sampling matters in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B2A41"/>
                </a:solidFill>
                <a:latin typeface="Calibri"/>
              </a:rPr>
              <a:t>•  Sample:</a:t>
            </a:r>
            <a:r>
              <a:rPr sz="1800">
                <a:solidFill>
                  <a:srgbClr val="1B2A41"/>
                </a:solidFill>
                <a:latin typeface="Calibri"/>
              </a:rPr>
              <a:t> a subset of data chosen to represent a bigger population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B2A41"/>
                </a:solidFill>
                <a:latin typeface="Calibri"/>
              </a:rPr>
              <a:t>•  Needed because:</a:t>
            </a:r>
            <a:r>
              <a:rPr sz="1800">
                <a:solidFill>
                  <a:srgbClr val="1B2A41"/>
                </a:solidFill>
                <a:latin typeface="Calibri"/>
              </a:rPr>
              <a:t> we never have all real-world data, and sometimes we have too much to process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B2A41"/>
                </a:solidFill>
                <a:latin typeface="Calibri"/>
              </a:rPr>
              <a:t>•  Sampling happens at many points: collecting data, building train/validation/test splits, labelling, monitoring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B2A41"/>
                </a:solidFill>
                <a:latin typeface="Calibri"/>
              </a:rPr>
              <a:t>•  Two families:</a:t>
            </a:r>
            <a:r>
              <a:rPr sz="180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D6D7E"/>
                </a:solidFill>
                <a:latin typeface="Calibri"/>
              </a:rPr>
              <a:t>      –  Non-probability sampling — chosen by convenience or judgement, not by chance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D6D7E"/>
                </a:solidFill>
                <a:latin typeface="Calibri"/>
              </a:rPr>
              <a:t>      –  Probability (random) sampling — every item has a known chance of being picked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B2A41"/>
                </a:solidFill>
                <a:latin typeface="Calibri"/>
              </a:rPr>
              <a:t>•  Risk:</a:t>
            </a:r>
            <a:r>
              <a:rPr sz="1800">
                <a:solidFill>
                  <a:srgbClr val="1B2A41"/>
                </a:solidFill>
                <a:latin typeface="Calibri"/>
              </a:rPr>
              <a:t> a bad sample gives a biased model ("garbage in, garbage out")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63040"/>
            <a:ext cx="4023360" cy="23774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600">
                <a:solidFill>
                  <a:srgbClr val="1B2A41"/>
                </a:solidFill>
                <a:latin typeface="Calibri"/>
              </a:rPr>
              <a:t>Key idea: the model only learns the world it is shown. If the sample is skewed, the model is skewed — and test scores on a skewed test set will not reveal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114800"/>
            <a:ext cx="4023360" cy="14630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300">
                <a:solidFill>
                  <a:srgbClr val="1B2A41"/>
                </a:solidFill>
                <a:latin typeface="Calibri"/>
              </a:rPr>
              <a:t>Source: Huyen (2022), ch. 4; ICT304 Topic 5 slides.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Non-probability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29998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2358571"/>
                <a:gridCol w="3265714"/>
                <a:gridCol w="2177142"/>
                <a:gridCol w="2358571"/>
              </a:tblGrid>
              <a:tr h="8686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Convenience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Take whatever data is easiest to get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Training a food-image classifier on photos the team took at nearby hawker centres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Fast, cheap, no planning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Strong selection bias; not representative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Snowball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Each sample leads to more samples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Scraping social-media accounts by following the friends of a starting set of users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Reaches hidden / connected groups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Over-represents one network; bias grows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Judgement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Experts choose which items to include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A doctor picks 'typical' X-rays to label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Uses domain knowledge; good for rare cases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Subjective; expert's blind spots become model's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Quota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Fill fixed quotas per group, no randomness inside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Survey 100 people from each age group, whoever answers first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Guarantees every group appears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Who fills the quota is still not random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65760" y="5715000"/>
            <a:ext cx="11430000" cy="5943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500">
                <a:solidFill>
                  <a:srgbClr val="1B2A41"/>
                </a:solidFill>
                <a:latin typeface="Calibri"/>
              </a:rPr>
              <a:t>Overall: easy and quick, but samples are not representative → models can be biased and results unreliable.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Probability (random)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926080"/>
                <a:gridCol w="2194560"/>
                <a:gridCol w="219456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1"/>
                          </a:solidFill>
                          <a:latin typeface="Calibri"/>
                        </a:rPr>
                        <a:t>Simple random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Every item has the same chance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Pick 10% of all customer records at random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Easy; unbiased on average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Rare classes may be missed entirely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1"/>
                          </a:solidFill>
                          <a:latin typeface="Calibri"/>
                        </a:rPr>
                        <a:t>Stratified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Split into groups (strata), sample each group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Keep the same 9% 'old' share in train and test (our Q2 split)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Every group represented in the right share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Hard when groups overlap (multi-label)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1"/>
                          </a:solidFill>
                          <a:latin typeface="Calibri"/>
                        </a:rPr>
                        <a:t>Weighted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Each item has a weight = chance of selection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Give recent data weight 0.5, older 0.2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Uses domain knowledge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Wrong weights add bias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1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Group data into clusters, sample whole clusters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Pick 5 random schools, use all students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Cheap when data is grouped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Rare cases may sit in unpicked clusters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1"/>
                          </a:solidFill>
                          <a:latin typeface="Calibri"/>
                        </a:rPr>
                        <a:t>Reservoir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Keep k items while a stream flows; item n replaces a slot with prob. k/n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Keep 1,000 random tweets from a live feed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Works on streams of unknown length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Only gives a uniform sample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A41"/>
                          </a:solidFill>
                          <a:latin typeface="Calibri"/>
                        </a:rPr>
                        <a:t>Importance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Sample from easy Q(x), re-weight by P(x)/Q(x)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Policy evaluation in reinforcement learning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Estimates hard distributions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A41"/>
                          </a:solidFill>
                          <a:latin typeface="Calibri"/>
                        </a:rPr>
                        <a:t>High variance if Q is far from 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Illustration: simple random vs stratified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q1_srs_vs_strat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498079" cy="35990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146304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B2A41"/>
                </a:solidFill>
                <a:latin typeface="Calibri"/>
              </a:rPr>
              <a:t>•  Population: 10,000 items, 1% rare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1"/>
                </a:solidFill>
                <a:latin typeface="Calibri"/>
              </a:rPr>
              <a:t>•  Sample size 200, repeated 2,000 times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Simple random:</a:t>
            </a:r>
            <a:r>
              <a:rPr sz="1600">
                <a:solidFill>
                  <a:srgbClr val="1B2A41"/>
                </a:solidFill>
                <a:latin typeface="Calibri"/>
              </a:rPr>
              <a:t> 0 to 8 rare items; ~14% of samples have none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Stratified:</a:t>
            </a:r>
            <a:r>
              <a:rPr sz="1600">
                <a:solidFill>
                  <a:srgbClr val="1B2A41"/>
                </a:solidFill>
                <a:latin typeface="Calibri"/>
              </a:rPr>
              <a:t> always exactly 2 (the true share)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1"/>
                </a:solidFill>
                <a:latin typeface="Calibri"/>
              </a:rPr>
              <a:t>•  Lesson: for imbalanced data, use stratified sampling for splits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Code: make_figs.py (in the repo). Seed = 42.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AED6F1"/>
                </a:solidFill>
                <a:latin typeface="Calibri"/>
              </a:rP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Handling imbalanced data — Abalone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D6EAF8"/>
                </a:solidFill>
                <a:latin typeface="Calibri"/>
              </a:rPr>
              <a:t>Steps and code to fix the imbalance, and model performance before vs after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dataset and the imbalance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9</a:t>
            </a:r>
          </a:p>
        </p:txBody>
      </p:sp>
      <p:pic>
        <p:nvPicPr>
          <p:cNvPr id="7" name="Picture 6" descr="fig1_ring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6949440" cy="2576759"/>
          </a:xfrm>
          <a:prstGeom prst="rect">
            <a:avLst/>
          </a:prstGeom>
        </p:spPr>
      </p:pic>
      <p:pic>
        <p:nvPicPr>
          <p:cNvPr id="8" name="Picture 7" descr="fig2_class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188720"/>
            <a:ext cx="4206240" cy="3180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20624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Data:</a:t>
            </a:r>
            <a:r>
              <a:rPr sz="1600">
                <a:solidFill>
                  <a:srgbClr val="1B2A41"/>
                </a:solidFill>
                <a:latin typeface="Calibri"/>
              </a:rPr>
              <a:t> UCI Abalone — 4,177 rows; Sex + 7 size/weight measurements; target Rings (age ≈ Rings + 1.5 years)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Task:</a:t>
            </a:r>
            <a:r>
              <a:rPr sz="1600">
                <a:solidFill>
                  <a:srgbClr val="1B2A41"/>
                </a:solidFill>
                <a:latin typeface="Calibri"/>
              </a:rPr>
              <a:t> predict Old = Rings ≥ 15 (≈16.5+ years) → about 9% old vs 91% not old (≈ 1 : 10.5)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Problem:</a:t>
            </a:r>
            <a:r>
              <a:rPr sz="1600">
                <a:solidFill>
                  <a:srgbClr val="1B2A41"/>
                </a:solidFill>
                <a:latin typeface="Calibri"/>
              </a:rPr>
              <a:t> a model that always says "not old" is ~91% accurate yet useless — accuracy hides the failure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Cleaning:</a:t>
            </a:r>
            <a:r>
              <a:rPr sz="1600">
                <a:solidFill>
                  <a:srgbClr val="1B2A41"/>
                </a:solidFill>
                <a:latin typeface="Calibri"/>
              </a:rPr>
              <a:t> 2 rows with Height = 0 removed (impossible values); no missing values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Steps we followed (see notebook)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63040"/>
            <a:ext cx="1783080" cy="2103120"/>
          </a:xfrm>
          <a:prstGeom prst="roundRect">
            <a:avLst/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B2A41"/>
                </a:solidFill>
              </a:rPr>
              <a:t>1</a:t>
            </a:r>
          </a:p>
          <a:p>
            <a:pPr algn="ctr"/>
            <a:r>
              <a:rPr sz="1600" b="1">
                <a:solidFill>
                  <a:srgbClr val="1B2A41"/>
                </a:solidFill>
              </a:rPr>
              <a:t>Load &amp; check</a:t>
            </a:r>
          </a:p>
          <a:p>
            <a:pPr algn="ctr"/>
            <a:r>
              <a:rPr sz="1200">
                <a:solidFill>
                  <a:srgbClr val="1B2A41"/>
                </a:solidFill>
              </a:rPr>
              <a:t>No missing values;
remove Height =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04288" y="1463040"/>
            <a:ext cx="1783080" cy="2103120"/>
          </a:xfrm>
          <a:prstGeom prst="roundRect">
            <a:avLst/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B2A41"/>
                </a:solidFill>
              </a:rPr>
              <a:t>2</a:t>
            </a:r>
          </a:p>
          <a:p>
            <a:pPr algn="ctr"/>
            <a:r>
              <a:rPr sz="1600" b="1">
                <a:solidFill>
                  <a:srgbClr val="1B2A41"/>
                </a:solidFill>
              </a:rPr>
              <a:t>Define target</a:t>
            </a:r>
          </a:p>
          <a:p>
            <a:pPr algn="ctr"/>
            <a:r>
              <a:rPr sz="1200">
                <a:solidFill>
                  <a:srgbClr val="1B2A41"/>
                </a:solidFill>
              </a:rPr>
              <a:t>Old = Rings ≥ 15;
measure imbalance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7096" y="1463040"/>
            <a:ext cx="1783080" cy="2103120"/>
          </a:xfrm>
          <a:prstGeom prst="round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Stratified split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80% train / 20% test,
same 9% in both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1463040"/>
            <a:ext cx="1783080" cy="2103120"/>
          </a:xfrm>
          <a:prstGeom prst="roundRect">
            <a:avLst/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B2A41"/>
                </a:solidFill>
              </a:rPr>
              <a:t>4</a:t>
            </a:r>
          </a:p>
          <a:p>
            <a:pPr algn="ctr"/>
            <a:r>
              <a:rPr sz="1600" b="1">
                <a:solidFill>
                  <a:srgbClr val="1B2A41"/>
                </a:solidFill>
              </a:rPr>
              <a:t>Baseline</a:t>
            </a:r>
          </a:p>
          <a:p>
            <a:pPr algn="ctr"/>
            <a:r>
              <a:rPr sz="1200">
                <a:solidFill>
                  <a:srgbClr val="1B2A41"/>
                </a:solidFill>
              </a:rPr>
              <a:t>LogReg + Random Forest
with NO 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2712" y="1463040"/>
            <a:ext cx="1783080" cy="2103120"/>
          </a:xfrm>
          <a:prstGeom prst="roundRect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Apply fixes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Train data only, inside
an imblearn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1463040"/>
            <a:ext cx="1783080" cy="2103120"/>
          </a:xfrm>
          <a:prstGeom prst="roundRect">
            <a:avLst/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1B2A41"/>
                </a:solidFill>
              </a:rPr>
              <a:t>6</a:t>
            </a:r>
          </a:p>
          <a:p>
            <a:pPr algn="ctr"/>
            <a:r>
              <a:rPr sz="1600" b="1">
                <a:solidFill>
                  <a:srgbClr val="1B2A41"/>
                </a:solidFill>
              </a:rPr>
              <a:t>Compare</a:t>
            </a:r>
          </a:p>
          <a:p>
            <a:pPr algn="ctr"/>
            <a:r>
              <a:rPr sz="1200">
                <a:solidFill>
                  <a:srgbClr val="1B2A41"/>
                </a:solidFill>
              </a:rPr>
              <a:t>Recall, precision, F1,
balanced acc., PR-AUC, CV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86200"/>
            <a:ext cx="7498079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200">
                <a:solidFill>
                  <a:srgbClr val="D4D4D4"/>
                </a:solidFill>
                <a:latin typeface="Menlo"/>
              </a:rPr>
              <a:t>pipe = Pipeline([</a:t>
            </a:r>
          </a:p>
          <a:p>
            <a:pPr algn="l"/>
            <a:r>
              <a:rPr sz="1200">
                <a:solidFill>
                  <a:srgbClr val="D4D4D4"/>
                </a:solidFill>
                <a:latin typeface="Menlo"/>
              </a:rPr>
              <a:t>    ("prep", ColumnTransformer([("sex", OneHotEncoder(), ["Sex"]),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Menlo"/>
              </a:rPr>
              <a:t>                                 ("num", StandardScaler(), numeric_cols)])),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Menlo"/>
              </a:rPr>
              <a:t>    ("resample", SMOTE(random_state=42)),      # only runs during fit()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Menlo"/>
              </a:rPr>
              <a:t>    ("model", LogisticRegression(max_iter=2000)),</a:t>
            </a:r>
          </a:p>
          <a:p>
            <a:pPr algn="l"/>
            <a:r>
              <a:rPr sz="1200">
                <a:solidFill>
                  <a:srgbClr val="D4D4D4"/>
                </a:solidFill>
                <a:latin typeface="Menlo"/>
              </a:rPr>
              <a:t>])</a:t>
            </a:r>
          </a:p>
          <a:p>
            <a:pPr algn="l"/>
            <a:r>
              <a:rPr sz="1200">
                <a:solidFill>
                  <a:srgbClr val="D4D4D4"/>
                </a:solidFill>
                <a:latin typeface="Menlo"/>
              </a:rPr>
              <a:t>pipe.fit(X_train, y_train)    # test set is never resampled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8862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400">
                <a:solidFill>
                  <a:srgbClr val="1B2A41"/>
                </a:solidFill>
                <a:latin typeface="Calibri"/>
              </a:rPr>
              <a:t>Why a pipeline? Scaling, encoding and resampling are fitted on training data only — inside every cross-validation fold too. This prevents data leakage (links to Q5).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Four ways to handle the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7498078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113"/>
                <a:gridCol w="3138730"/>
                <a:gridCol w="2441235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Class weighting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Errors on the rare class cost more in training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Simple; no data changed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Random undersampling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Drop majority rows until balanced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Fast, but discards ~80% of data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Random oversampling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Duplicate minority rows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Keeps data; may overfit to copies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SMOTE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Create synthetic minority rows between neighbours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Less overfitting; can blur boundary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3_resampled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280160"/>
            <a:ext cx="3931920" cy="17002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534924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400">
                <a:solidFill>
                  <a:srgbClr val="1B2A41"/>
                </a:solidFill>
                <a:latin typeface="Calibri"/>
              </a:rPr>
              <a:t>Other options (not used here): collect more rare data, threshold moving, ensemble methods (e.g. balanced random forest), focal loss for neural networks.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Results: before vs after (test 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 / method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Recall (old)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Precision (old)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 (old)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Balanced acc.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Logistic Regression — baseline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0.18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0.27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Logistic Regression — smote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Random Forest — baseline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Random Forest — class weighting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4_before_after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6678482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Confusion matrices and precision–recall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fig5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5463987" cy="5212080"/>
          </a:xfrm>
          <a:prstGeom prst="rect">
            <a:avLst/>
          </a:prstGeom>
        </p:spPr>
      </p:pic>
      <p:pic>
        <p:nvPicPr>
          <p:cNvPr id="8" name="Picture 7" descr="fig6_pr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011680"/>
            <a:ext cx="6126480" cy="25702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Q2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299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2786"/>
                <a:gridCol w="1405327"/>
                <a:gridCol w="1405327"/>
                <a:gridCol w="1217950"/>
                <a:gridCol w="1499016"/>
                <a:gridCol w="1311639"/>
                <a:gridCol w="121795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 set (73 old of 835)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Old found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False alarms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 (old)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Balanced acc.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Logistic Regression — baseline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13 (18%)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0.27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Logistic Regression — SMOTE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58 (79%)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Random Forest — baseline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18 (25%)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0.36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0.62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Random Forest — class weighting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40 (55%)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70332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500">
                <a:solidFill>
                  <a:srgbClr val="1B2A41"/>
                </a:solidFill>
                <a:latin typeface="Calibri"/>
              </a:rPr>
              <a:t>•  Before:</a:t>
            </a:r>
            <a:r>
              <a:rPr sz="1500">
                <a:solidFill>
                  <a:srgbClr val="1B2A41"/>
                </a:solidFill>
                <a:latin typeface="Calibri"/>
              </a:rPr>
              <a:t> 91-92% accuracy but only 18-25% of old abalone found — accuracy hides the problem</a:t>
            </a:r>
          </a:p>
          <a:p>
            <a:pPr>
              <a:spcAft>
                <a:spcPts val="400"/>
              </a:spcAft>
            </a:pPr>
            <a:r>
              <a:rPr b="1" sz="1500">
                <a:solidFill>
                  <a:srgbClr val="1B2A41"/>
                </a:solidFill>
                <a:latin typeface="Calibri"/>
              </a:rPr>
              <a:t>•  After:</a:t>
            </a:r>
            <a:r>
              <a:rPr sz="1500">
                <a:solidFill>
                  <a:srgbClr val="1B2A41"/>
                </a:solidFill>
                <a:latin typeface="Calibri"/>
              </a:rPr>
              <a:t> recall 55-79%, F1 up from ~0.3 to ~0.49, balanced accuracy up to 0.74-0.83 (CV agrees)</a:t>
            </a:r>
          </a:p>
          <a:p>
            <a:pPr>
              <a:spcAft>
                <a:spcPts val="400"/>
              </a:spcAft>
            </a:pPr>
            <a:r>
              <a:rPr b="1" sz="1500">
                <a:solidFill>
                  <a:srgbClr val="1B2A41"/>
                </a:solidFill>
                <a:latin typeface="Calibri"/>
              </a:rPr>
              <a:t>•  Price:</a:t>
            </a:r>
            <a:r>
              <a:rPr sz="1500">
                <a:solidFill>
                  <a:srgbClr val="1B2A41"/>
                </a:solidFill>
                <a:latin typeface="Calibri"/>
              </a:rPr>
              <a:t> many more false alarms and slightly lower accuracy — the normal precision/recall trade-off</a:t>
            </a:r>
          </a:p>
          <a:p>
            <a:pPr>
              <a:spcAft>
                <a:spcPts val="400"/>
              </a:spcAft>
            </a:pPr>
            <a:r>
              <a:rPr b="1" sz="1500">
                <a:solidFill>
                  <a:srgbClr val="1B2A41"/>
                </a:solidFill>
                <a:latin typeface="Calibri"/>
              </a:rPr>
              <a:t>•  PR-AUC barely moves (~0.46):</a:t>
            </a:r>
            <a:r>
              <a:rPr sz="1500">
                <a:solidFill>
                  <a:srgbClr val="1B2A41"/>
                </a:solidFill>
                <a:latin typeface="Calibri"/>
              </a:rPr>
              <a:t> the fixes shift the decision point; they don't make the model rank better</a:t>
            </a:r>
          </a:p>
          <a:p>
            <a:pPr>
              <a:spcAft>
                <a:spcPts val="400"/>
              </a:spcAft>
            </a:pPr>
            <a:r>
              <a:rPr b="1" sz="1500">
                <a:solidFill>
                  <a:srgbClr val="1B2A41"/>
                </a:solidFill>
                <a:latin typeface="Calibri"/>
              </a:rPr>
              <a:t>•  Choice:</a:t>
            </a:r>
            <a:r>
              <a:rPr sz="1500">
                <a:solidFill>
                  <a:srgbClr val="1B2A41"/>
                </a:solidFill>
                <a:latin typeface="Calibri"/>
              </a:rPr>
              <a:t> pick by the cost of each error; always split first and resample only training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AED6F1"/>
                </a:solidFill>
                <a:latin typeface="Calibri"/>
              </a:rP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Batch vs stream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D6EAF8"/>
                </a:solidFill>
                <a:latin typeface="Calibri"/>
              </a:rPr>
              <a:t>Differences with examples, and ML techniques for streaming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Batch processing vs stream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3000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846320"/>
                <a:gridCol w="493776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Batch processing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Stream processing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Historical data at rest (database, data lake, warehouse)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Data in motion — events arriving continuously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Periodically (hourly, nightly, monthly)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Continuously; results within milliseconds–seconds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Data size per job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Large, known and complete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Small windows; total size unknown / unbounded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High (minutes to hours)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Low (real-time or near real-time)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Typical tools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Hadoop MapReduce, Spark, SQL jobs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Apache Kafka, Flink, Spark Structured Streaming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Nightly job retrains a recommender on yesterday's sales; monthly bank statements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Card-fraud check on each transaction as it happens; live ride-hailing surge pricing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ML features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Batch features: e.g. a shop's average rating over 30 days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Streaming features: e.g. number of orders in the last 5 minutes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Stream ML techniques (1): incremental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583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Online / incremental learning:</a:t>
            </a:r>
            <a:r>
              <a:rPr sz="1600">
                <a:solidFill>
                  <a:srgbClr val="1B2A41"/>
                </a:solidFill>
                <a:latin typeface="Calibri"/>
              </a:rPr>
              <a:t> update the model with each new example, then discard it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Online linear models (SGD):</a:t>
            </a:r>
            <a:r>
              <a:rPr sz="1600">
                <a:solidFill>
                  <a:srgbClr val="1B2A41"/>
                </a:solidFill>
                <a:latin typeface="Calibri"/>
              </a:rPr>
              <a:t> logistic regression / perceptron updated by one gradient step per example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D6D7E"/>
                </a:solidFill>
                <a:latin typeface="Calibri"/>
              </a:rPr>
              <a:t>      –  scikit-learn: SGDClassifier.partial_fit(); River: linear_model.LogisticRegression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Hoeffding Tree (VFDT):</a:t>
            </a:r>
            <a:r>
              <a:rPr sz="1600">
                <a:solidFill>
                  <a:srgbClr val="1B2A41"/>
                </a:solidFill>
                <a:latin typeface="Calibri"/>
              </a:rPr>
              <a:t> a decision tree that grows while data streams in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D6D7E"/>
                </a:solidFill>
                <a:latin typeface="Calibri"/>
              </a:rPr>
              <a:t>      –  Splits a node once enough examples arrive to be statistically confident (Hoeffding bound)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D6D7E"/>
                </a:solidFill>
                <a:latin typeface="Calibri"/>
              </a:rPr>
              <a:t>      –  Reads each example once; memory stays constant (Domingos &amp; Hulten, 2000)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Evaluation:</a:t>
            </a:r>
            <a:r>
              <a:rPr sz="1600">
                <a:solidFill>
                  <a:srgbClr val="1B2A41"/>
                </a:solidFill>
                <a:latin typeface="Calibri"/>
              </a:rPr>
              <a:t> "test-then-train" (prequential) — predict each new example first, then learn from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71600"/>
            <a:ext cx="4389120" cy="23774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600">
                <a:solidFill>
                  <a:srgbClr val="1B2A41"/>
                </a:solidFill>
                <a:latin typeface="Calibri"/>
              </a:rPr>
              <a:t>Example: a spam filter updates its weights each time a user marks an email as spam, instead of waiting for a nightly retrain.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023360"/>
            <a:ext cx="4389120" cy="17373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400">
                <a:solidFill>
                  <a:srgbClr val="1B2A41"/>
                </a:solidFill>
                <a:latin typeface="Calibri"/>
              </a:rPr>
              <a:t>Library: River — machine learning for streaming data in Python (Montiel et al., 2021).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Stream ML techniques (2): handling concept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583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Concept drift:</a:t>
            </a:r>
            <a:r>
              <a:rPr sz="1600">
                <a:solidFill>
                  <a:srgbClr val="1B2A41"/>
                </a:solidFill>
                <a:latin typeface="Calibri"/>
              </a:rPr>
              <a:t> the link between inputs and the label changes over time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Drift detectors:</a:t>
            </a:r>
            <a:r>
              <a:rPr sz="1600">
                <a:solidFill>
                  <a:srgbClr val="1B2A41"/>
                </a:solidFill>
                <a:latin typeface="Calibri"/>
              </a:rPr>
              <a:t> e.g. ADWIN keeps a sliding window and cuts old data when the average error changes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Adaptive Random Forest (ARF):</a:t>
            </a:r>
            <a:r>
              <a:rPr sz="1600">
                <a:solidFill>
                  <a:srgbClr val="1B2A41"/>
                </a:solidFill>
                <a:latin typeface="Calibri"/>
              </a:rPr>
              <a:t> an ensemble of Hoeffding trees, each with a drift detector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D6D7E"/>
                </a:solidFill>
                <a:latin typeface="Calibri"/>
              </a:rPr>
              <a:t>      –  When a tree's error rises, a background tree starts; it replaces the old one if drift is confirmed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D6D7E"/>
                </a:solidFill>
                <a:latin typeface="Calibri"/>
              </a:rPr>
              <a:t>      –  Strong accuracy on evolving streams (Gomes et al., 2017)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Other options:</a:t>
            </a:r>
            <a:r>
              <a:rPr sz="1600">
                <a:solidFill>
                  <a:srgbClr val="1B2A41"/>
                </a:solidFill>
                <a:latin typeface="Calibri"/>
              </a:rPr>
              <a:t> sliding-window retraining, online k-means for streaming clustering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71600"/>
            <a:ext cx="4389120" cy="27432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600">
                <a:solidFill>
                  <a:srgbClr val="1B2A41"/>
                </a:solidFill>
                <a:latin typeface="Calibri"/>
              </a:rPr>
              <a:t>Example: card-fraud detection. Fraud patterns change every few weeks. ARF scores each transaction in real time and replaces trees that stop working when the pattern shifts.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AED6F1"/>
                </a:solidFill>
                <a:latin typeface="Calibri"/>
              </a:rPr>
              <a:t>Question 4 (≈10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Feature importance, selection &amp;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D6EAF8"/>
                </a:solidFill>
                <a:latin typeface="Calibri"/>
              </a:rPr>
              <a:t>How feature importance relates to feature selection, and the different ways to perform feature extraction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care about features?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800">
                <a:solidFill>
                  <a:srgbClr val="1B2A41"/>
                </a:solidFill>
                <a:latin typeface="Calibri"/>
              </a:rPr>
              <a:t>•  Feature:</a:t>
            </a:r>
            <a:r>
              <a:rPr sz="1800">
                <a:solidFill>
                  <a:srgbClr val="1B2A41"/>
                </a:solidFill>
                <a:latin typeface="Calibri"/>
              </a:rPr>
              <a:t> one input column the model learns from (e.g. shell weight, word count, pixel)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B2A41"/>
                </a:solidFill>
                <a:latin typeface="Calibri"/>
              </a:rPr>
              <a:t>•  More is not always better — too many features cause:</a:t>
            </a:r>
            <a:r>
              <a:rPr sz="180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D6D7E"/>
                </a:solidFill>
                <a:latin typeface="Calibri"/>
              </a:rPr>
              <a:t>      –  Overfitting (model memorises noise)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D6D7E"/>
                </a:solidFill>
                <a:latin typeface="Calibri"/>
              </a:rPr>
              <a:t>      –  More memory and slower predictions (higher inference latency)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D6D7E"/>
                </a:solidFill>
                <a:latin typeface="Calibri"/>
              </a:rPr>
              <a:t>      –  Harder to explain the model</a:t>
            </a:r>
          </a:p>
          <a:p>
            <a:pPr>
              <a:spcAft>
                <a:spcPts val="600"/>
              </a:spcAft>
            </a:pPr>
            <a:r>
              <a:rPr b="1" sz="1800">
                <a:solidFill>
                  <a:srgbClr val="1B2A41"/>
                </a:solidFill>
                <a:latin typeface="Calibri"/>
              </a:rPr>
              <a:t>•  Three related ideas:</a:t>
            </a:r>
            <a:r>
              <a:rPr sz="180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D6D7E"/>
                </a:solidFill>
                <a:latin typeface="Calibri"/>
              </a:rPr>
              <a:t>      –  Feature importance — how much does each feature help the model?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D6D7E"/>
                </a:solidFill>
                <a:latin typeface="Calibri"/>
              </a:rPr>
              <a:t>      –  Feature selection — keep a useful subset of the original features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D6D7E"/>
                </a:solidFill>
                <a:latin typeface="Calibri"/>
              </a:rPr>
              <a:t>      –  Feature extraction — build new, fewer features from the original ones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feature importance?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411480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Idea in plain English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Drop-column / permutation importance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Shuffle (or remove) one feature; measure how much the score drops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Works with any model; matches the lecture definition (Breiman, 2001)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Impurity-based (tree models)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How much each feature reduces impurity across all tree splits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Free with Random Forest/XGBoost; biased towards many-valued features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Model coefficients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Size of each weight in a linear model (after scaling)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Simple; only for linear models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SHAP values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Fair share of each feature in every single prediction (game theory)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Explains individual predictions; slower (Lundberg &amp; Lee, 2017)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65760" y="539496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500">
                <a:solidFill>
                  <a:srgbClr val="1B2A41"/>
                </a:solidFill>
                <a:latin typeface="Calibri"/>
              </a:rPr>
              <a:t>Also useful for interpretability: importance shows how the model works "under the hood" (Huyen, 2022, ch. 5).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feature importance relates to feature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22</a:t>
            </a:r>
          </a:p>
        </p:txBody>
      </p:sp>
      <p:sp>
        <p:nvSpPr>
          <p:cNvPr id="7" name="Pentagon 6"/>
          <p:cNvSpPr/>
          <p:nvPr/>
        </p:nvSpPr>
        <p:spPr>
          <a:xfrm>
            <a:off x="457200" y="1371600"/>
            <a:ext cx="2606040" cy="1371600"/>
          </a:xfrm>
          <a:prstGeom prst="homePlat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Measure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Compute importance
of every feature</a:t>
            </a:r>
          </a:p>
        </p:txBody>
      </p:sp>
      <p:sp>
        <p:nvSpPr>
          <p:cNvPr id="8" name="Chevron 7"/>
          <p:cNvSpPr/>
          <p:nvPr/>
        </p:nvSpPr>
        <p:spPr>
          <a:xfrm>
            <a:off x="3291840" y="1371600"/>
            <a:ext cx="2606040" cy="1371600"/>
          </a:xfrm>
          <a:prstGeom prst="chevron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Rank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Sort features from
most to least useful</a:t>
            </a:r>
          </a:p>
        </p:txBody>
      </p:sp>
      <p:sp>
        <p:nvSpPr>
          <p:cNvPr id="9" name="Chevron 8"/>
          <p:cNvSpPr/>
          <p:nvPr/>
        </p:nvSpPr>
        <p:spPr>
          <a:xfrm>
            <a:off x="6126480" y="1371600"/>
            <a:ext cx="2606040" cy="1371600"/>
          </a:xfrm>
          <a:prstGeom prst="chevron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Select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Keep top-k or those above
a threshold; drop the rest</a:t>
            </a:r>
          </a:p>
        </p:txBody>
      </p:sp>
      <p:sp>
        <p:nvSpPr>
          <p:cNvPr id="10" name="Chevron 9"/>
          <p:cNvSpPr/>
          <p:nvPr/>
        </p:nvSpPr>
        <p:spPr>
          <a:xfrm>
            <a:off x="8961120" y="1371600"/>
            <a:ext cx="2606040" cy="1371600"/>
          </a:xfrm>
          <a:prstGeom prst="chevron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Re-check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Retrain and confirm the
score did not 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B2A41"/>
                </a:solidFill>
                <a:latin typeface="Calibri"/>
              </a:rPr>
              <a:t>•  *Feature importance = the measurement; feature selection = the decision made using it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Embedded selection uses importance directly:</a:t>
            </a:r>
            <a:r>
              <a:rPr sz="1600">
                <a:solidFill>
                  <a:srgbClr val="1B2A41"/>
                </a:solidFill>
                <a:latin typeface="Calibri"/>
              </a:rPr>
              <a:t> e.g. sklearn SelectFromModel keeps features whose importance is above a threshold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Recursive Feature Elimination (RFE):</a:t>
            </a:r>
            <a:r>
              <a:rPr sz="1600">
                <a:solidFill>
                  <a:srgbClr val="1B2A41"/>
                </a:solidFill>
                <a:latin typeface="Calibri"/>
              </a:rPr>
              <a:t> repeatedly drop the least important feature and retrain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Caution:</a:t>
            </a:r>
            <a:r>
              <a:rPr sz="1600">
                <a:solidFill>
                  <a:srgbClr val="1B2A41"/>
                </a:solidFill>
                <a:latin typeface="Calibri"/>
              </a:rPr>
              <a:t> low importance ≠ useless — two correlated features can "share" importance; check by retraining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1"/>
                </a:solidFill>
                <a:latin typeface="Calibri"/>
              </a:rPr>
              <a:t>•  *Importance needs a trained model, so compute it on training data only (avoid leakage)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Approaches to feature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2999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2926080"/>
                <a:gridCol w="3108960"/>
                <a:gridCol w="2103119"/>
                <a:gridCol w="2011680"/>
              </a:tblGrid>
              <a:tr h="10515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Cons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Filter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Score each feature with a statistic, independent of any model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Correlation, chi-square, mutual information, variance threshold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Fast; scales to many features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Ignores feature interactions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Wrapper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Train models on different feature subsets; keep the best subset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Forward selection, backward elimination, RFE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Considers interactions; usually most accurate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Slow; risk of overfitting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Embedded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Selection is built into model training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Lasso (L1) shrinks weights to 0; tree importances; SelectFromModel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Good balance of speed and accuracy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Tied to one model type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Approaches to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29999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3108960"/>
                <a:gridCol w="621792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does / example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Linear projection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PCA (principal component analysis)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Combines correlated columns into a few uncorrelated components that keep most of the variance (Jolliffe &amp; Cadima, 2016)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Supervised projection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LDA (linear discriminant analysis)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Finds directions that best separate the classes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Non-linear / learned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Autoencoders, CNN or transformer embeddings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Neural network learns a compact representation (e.g. image → 512-number vector)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Handcrafted (engineered)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n-grams, TF-IDF, ratios, date parts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"I like food" → [I, like, food, I like, like food]; price per m²; day-of-week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Feature crossing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Combine two features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Marital status × number of children (lecture example)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A41"/>
                          </a:solidFill>
                          <a:latin typeface="Calibri"/>
                        </a:rPr>
                        <a:t>Visualisation-oriented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t-SNE, UMAP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A41"/>
                          </a:solidFill>
                          <a:latin typeface="Calibri"/>
                        </a:rPr>
                        <a:t>Squeeze data to 2-D for plots; not usually used as model input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Selection vs extraction — when to use which?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7498078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5256"/>
                <a:gridCol w="2856411"/>
                <a:gridCol w="2856411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Feature selection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Feature extraction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Subset of original features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New, transformed features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Interpretability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High — features keep meaning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Often lower (e.g. PCA component 3)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Dropped features are lost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Can keep info from all features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Good when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Need to explain the model; many useless columns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Many correlated columns; images, text, audio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138160" y="1280160"/>
            <a:ext cx="3657600" cy="393192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500">
                <a:solidFill>
                  <a:srgbClr val="1B2A41"/>
                </a:solidFill>
                <a:latin typeface="Calibri"/>
              </a:rPr>
              <a:t>Summary
• Importance tells us which features matter.
• Selection uses that to keep the useful ones.
• Extraction builds new, compact features.
• All must be fitted on training data only.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AED6F1"/>
                </a:solidFill>
                <a:latin typeface="Calibri"/>
              </a:rPr>
              <a:t>Question 5 (≈5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Data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D6EAF8"/>
                </a:solidFill>
                <a:latin typeface="Calibri"/>
              </a:rPr>
              <a:t>Kaggle Learn tutorial — the problem and what we learned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data leakage?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700">
                <a:solidFill>
                  <a:srgbClr val="1B2A41"/>
                </a:solidFill>
                <a:latin typeface="Calibri"/>
              </a:rPr>
              <a:t>•  Data leakage:</a:t>
            </a:r>
            <a:r>
              <a:rPr sz="1700">
                <a:solidFill>
                  <a:srgbClr val="1B2A41"/>
                </a:solidFill>
                <a:latin typeface="Calibri"/>
              </a:rPr>
              <a:t> the training data contains information about the answer that will not be available at prediction time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1B2A41"/>
                </a:solidFill>
                <a:latin typeface="Calibri"/>
              </a:rPr>
              <a:t>•  Result:</a:t>
            </a:r>
            <a:r>
              <a:rPr sz="1700">
                <a:solidFill>
                  <a:srgbClr val="1B2A41"/>
                </a:solidFill>
                <a:latin typeface="Calibri"/>
              </a:rPr>
              <a:t> excellent validation scores, poor real-world performance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1B2A41"/>
                </a:solidFill>
                <a:latin typeface="Calibri"/>
              </a:rPr>
              <a:t>•  Type 1 — Target leakage:</a:t>
            </a:r>
            <a:r>
              <a:rPr sz="1700">
                <a:solidFill>
                  <a:srgbClr val="1B2A41"/>
                </a:solidFill>
                <a:latin typeface="Calibri"/>
              </a:rPr>
              <a:t> a feature is created or updated after the outcome is known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D6D7E"/>
                </a:solidFill>
                <a:latin typeface="Calibri"/>
              </a:rPr>
              <a:t>      –  Example: predicting pneumonia using took_antibiotic_medicine — people take antibiotics after they get sick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1B2A41"/>
                </a:solidFill>
                <a:latin typeface="Calibri"/>
              </a:rPr>
              <a:t>•  Type 2 — Train-test contamination:</a:t>
            </a:r>
            <a:r>
              <a:rPr sz="1700">
                <a:solidFill>
                  <a:srgbClr val="1B2A41"/>
                </a:solidFill>
                <a:latin typeface="Calibri"/>
              </a:rPr>
              <a:t> test data influences training or preprocessing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D6D7E"/>
                </a:solidFill>
                <a:latin typeface="Calibri"/>
              </a:rPr>
              <a:t>      –  Example: fitting an imputer or scaler on all data before train_test_split()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4206240" cy="31089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500">
                <a:solidFill>
                  <a:srgbClr val="1B2A41"/>
                </a:solidFill>
                <a:latin typeface="Calibri"/>
              </a:rPr>
              <a:t>Real case (lecture): COVID-19 models learned that patients scanned lying down were sicker, and even learned hospital label fonts — great test scores, useless in hospitals (Heaven, 2021).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Tutorial example: credit card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69494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840480"/>
              </a:tblGrid>
              <a:tr h="868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27432" marB="27432">
                    <a:solidFill>
                      <a:srgbClr val="2E86C1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Random forest, all features, 5-fold CV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Accuracy ≈ 98.1% — suspiciously high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Check 'expenditure'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100% of rejected applicants had 0 spending vs 2% of accepted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Diagnosis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Spending is on the NEW card → only exists after acceptance = target leakage</a:t>
                      </a:r>
                    </a:p>
                  </a:txBody>
                  <a:tcPr marL="54864" marR="54864" marT="27432" marB="27432">
                    <a:solidFill>
                      <a:srgbClr val="EEF3F8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A41"/>
                          </a:solidFill>
                          <a:latin typeface="Calibri"/>
                        </a:rPr>
                        <a:t>Drop expenditure, share, active, majorcards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1"/>
                          </a:solidFill>
                          <a:latin typeface="Calibri"/>
                        </a:rPr>
                        <a:t>Accuracy ≈ 83.1% — lower, but honest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q5_kaggle_exercise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188720"/>
            <a:ext cx="3840480" cy="2600960"/>
          </a:xfrm>
          <a:prstGeom prst="rect">
            <a:avLst/>
          </a:prstGeom>
        </p:spPr>
      </p:pic>
      <p:pic>
        <p:nvPicPr>
          <p:cNvPr id="9" name="Picture 8" descr="q5_kaggle_course_comple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206240"/>
            <a:ext cx="4206240" cy="15739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5806440"/>
            <a:ext cx="4206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Our completed Kaggle exercise (all 5 steps correct) and lesson 7 ticked. Source: Cook, A. — Kaggle Learn, Intermediate ML.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to prevent leakage — and 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700">
                <a:solidFill>
                  <a:srgbClr val="1B2A41"/>
                </a:solidFill>
                <a:latin typeface="Calibri"/>
              </a:rPr>
              <a:t>•  Think about timing:</a:t>
            </a:r>
            <a:r>
              <a:rPr sz="1700">
                <a:solidFill>
                  <a:srgbClr val="1B2A41"/>
                </a:solidFill>
                <a:latin typeface="Calibri"/>
              </a:rPr>
              <a:t> would this feature exist at the moment of prediction?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B2A41"/>
                </a:solidFill>
                <a:latin typeface="Calibri"/>
              </a:rPr>
              <a:t>•  *Split first — before scaling, imputing, resampling or EDA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B2A41"/>
                </a:solidFill>
                <a:latin typeface="Calibri"/>
              </a:rPr>
              <a:t>•  *Use pipelines so preprocessing is fitted inside each CV fold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B2A41"/>
                </a:solidFill>
                <a:latin typeface="Calibri"/>
              </a:rPr>
              <a:t>•  *Split time-based data by time, not randomly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B2A41"/>
                </a:solidFill>
                <a:latin typeface="Calibri"/>
              </a:rPr>
              <a:t>•  *Keep groups together (e.g. one patient's scans in the same split)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B2A41"/>
                </a:solidFill>
                <a:latin typeface="Calibri"/>
              </a:rPr>
              <a:t>•  *Be suspicious of ~98% accuracy — investigate the top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371600"/>
            <a:ext cx="5212080" cy="420624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500">
                <a:solidFill>
                  <a:srgbClr val="1B2A41"/>
                </a:solidFill>
                <a:latin typeface="Calibri"/>
              </a:rPr>
              <a:t>What we learned
• A high score is not proof of a good model.
• Leakage is usually invisible in the numbers — you find it by asking how each column was created.
• In our Q2 notebook we applied this: SMOTE and scaling run only on training data inside the pipeline.
• Honest 83% beats a fake 98% that fails in production.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Refs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Bifet, A., &amp; Gavaldà, R. (2007). Learning from time-changing data with adaptive windowing. Proc. SIAM Int. Conf. on Data Mining, 443–448.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Breiman, L. (2001). Random forests. Machine Learning, 45(1), 5–32. https://doi.org/10.1023/A:1010933404324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Chawla, N. V., Bowyer, K. W., Hall, L. O., &amp; Kegelmeyer, W. P. (2002). SMOTE: Synthetic minority over-sampling technique. JAIR, 16, 321–357.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Cook, A. (n.d.). Data leakage [Kaggle Learn tutorial]. https://www.kaggle.com/code/alexisbcook/data-leakage/tutorial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Domingos, P., &amp; Hulten, G. (2000). Mining high-speed data streams. Proc. ACM SIGKDD, 71–80. https://doi.org/10.1145/347090.347107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Gomes, H. M., et al. (2017). Adaptive random forests for evolving data stream classification. Machine Learning, 106, 1469–1495.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Guyon, I., &amp; Elisseeff, A. (2003). An introduction to variable and feature selection. JMLR, 3, 1157–1182.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Heaven, W. D. (2021, July 30). Hundreds of AI tools have been built to catch covid. None of them helped. MIT Technology Review.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Huyen, C. (2022). Designing machine learning systems. O'Reilly Media. (Chapters 3–5)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Jolliffe, I. T., &amp; Cadima, J. (2016). Principal component analysis: A review and recent developments. Phil. Trans. R. Soc. A, 374, 20150202.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Kleppmann, M. (2017). Designing data-intensive applications. O'Reilly Media. (Chapters 10–11)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Lemaître, G., Nogueira, F., &amp; Aridas, C. K. (2017). Imbalanced-learn. JMLR, 18(17), 1–5.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Lundberg, S. M., &amp; Lee, S.-I. (2017). A unified approach to interpreting model predictions. NeurIPS 30.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Montiel, J., et al. (2021). River: Machine learning for streaming data in Python. JMLR, 22(110), 1–8.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Murdoch University. (2026). ICT304 AI System Design: Topic 5 Data engineering; Topic 6 Feature engineering [Lecture slides].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Nash, W. J., et al. (1994). Abalone [Dataset]. UCI Machine Learning Repository. https://doi.org/10.24432/C55C7W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B2A41"/>
                </a:solidFill>
                <a:latin typeface="Calibri"/>
              </a:rPr>
              <a:t>Pedregosa, F., et al. (2011). Scikit-learn: Machine learning in Python. JMLR, 12, 2825–2830.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Declaration of AI tool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300" b="0">
                <a:solidFill>
                  <a:srgbClr val="AED6F1"/>
                </a:solidFill>
                <a:latin typeface="Calibri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ICT304 Tutorial 3 · Group 4 ·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Tool:</a:t>
            </a:r>
            <a:r>
              <a:rPr sz="1600">
                <a:solidFill>
                  <a:srgbClr val="1B2A41"/>
                </a:solidFill>
                <a:latin typeface="Calibri"/>
              </a:rPr>
              <a:t> Claude (Anthropic), October 2026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Used for:</a:t>
            </a:r>
            <a:r>
              <a:rPr sz="1600">
                <a:solidFill>
                  <a:srgbClr val="1B2A41"/>
                </a:solidFill>
                <a:latin typeface="Calibri"/>
              </a:rPr>
              <a:t> drafting slide text, the Q2 notebook code, the Q1 simulation chart, and finding references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Our own work:</a:t>
            </a:r>
            <a:r>
              <a:rPr sz="1600">
                <a:solidFill>
                  <a:srgbClr val="1B2A41"/>
                </a:solidFill>
                <a:latin typeface="Calibri"/>
              </a:rPr>
              <a:t> checking every answer against the lecture slides, running and checking the code, editing the slides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B2A41"/>
                </a:solidFill>
                <a:latin typeface="Calibri"/>
              </a:rPr>
              <a:t>•  Prompt used (example):</a:t>
            </a:r>
            <a:r>
              <a:rPr sz="1600">
                <a:solidFill>
                  <a:srgbClr val="1B2A41"/>
                </a:solidFill>
                <a:latin typeface="Calibri"/>
              </a:rPr>
              <a:t/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D6D7E"/>
                </a:solidFill>
                <a:latin typeface="Calibri"/>
              </a:rPr>
              <a:t>      –  "Help me do ICT304 Tutorial 3 from start to end … draft PowerPoint slides … I will later check and finalise."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B2A41"/>
                </a:solidFill>
                <a:latin typeface="Calibri"/>
              </a:rPr>
              <a:t>•  *Referenced as per Murdoch APA 7 guide for generative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71600"/>
            <a:ext cx="4389120" cy="438912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400">
                <a:solidFill>
                  <a:srgbClr val="C0392B"/>
                </a:solidFill>
                <a:latin typeface="Calibri"/>
              </a:rPr>
              <a:t>[Insert screenshots of the AI prompts and answers here]
Anthropic. (2026). Claude [Large language model]. https://claude.ai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